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61" r:id="rId3"/>
    <p:sldId id="257" r:id="rId4"/>
    <p:sldId id="258" r:id="rId5"/>
    <p:sldId id="259" r:id="rId6"/>
    <p:sldId id="260" r:id="rId7"/>
    <p:sldId id="262" r:id="rId8"/>
    <p:sldId id="263" r:id="rId9"/>
    <p:sldId id="264" r:id="rId10"/>
    <p:sldId id="265" r:id="rId11"/>
    <p:sldId id="266" r:id="rId12"/>
    <p:sldId id="267"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60"/>
  </p:normalViewPr>
  <p:slideViewPr>
    <p:cSldViewPr snapToGrid="0">
      <p:cViewPr varScale="1">
        <p:scale>
          <a:sx n="78" d="100"/>
          <a:sy n="78" d="100"/>
        </p:scale>
        <p:origin x="8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11/21/2025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9912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11/21/2025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72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11/21/2025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9516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11/21/2025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7078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11/21/2025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96112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11/21/2025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3132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11/21/2025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01595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11/21/2025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42033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11/21/2025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28025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11/21/2025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05762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11/21/2025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85005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11/21/2025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5284174"/>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0B98925-0550-1AFB-C1DC-02792400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blue abstract watercolor pattern on a white background">
            <a:extLst>
              <a:ext uri="{FF2B5EF4-FFF2-40B4-BE49-F238E27FC236}">
                <a16:creationId xmlns:a16="http://schemas.microsoft.com/office/drawing/2014/main" id="{41FACFCA-0B17-283D-310D-4FDDA075376F}"/>
              </a:ext>
            </a:extLst>
          </p:cNvPr>
          <p:cNvPicPr>
            <a:picLocks noChangeAspect="1"/>
          </p:cNvPicPr>
          <p:nvPr/>
        </p:nvPicPr>
        <p:blipFill>
          <a:blip r:embed="rId2"/>
          <a:srcRect t="5779" b="9951"/>
          <a:stretch>
            <a:fillRect/>
          </a:stretch>
        </p:blipFill>
        <p:spPr>
          <a:xfrm>
            <a:off x="0" y="10"/>
            <a:ext cx="12191979" cy="6857990"/>
          </a:xfrm>
          <a:prstGeom prst="rect">
            <a:avLst/>
          </a:prstGeom>
        </p:spPr>
      </p:pic>
      <p:sp>
        <p:nvSpPr>
          <p:cNvPr id="11" name="Rectangle 10">
            <a:extLst>
              <a:ext uri="{FF2B5EF4-FFF2-40B4-BE49-F238E27FC236}">
                <a16:creationId xmlns:a16="http://schemas.microsoft.com/office/drawing/2014/main" id="{0CCA9273-E74E-A306-1F74-BEF9EDA30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E179C11E-1807-37D3-9AFF-3A4AAEF014CB}"/>
              </a:ext>
            </a:extLst>
          </p:cNvPr>
          <p:cNvSpPr>
            <a:spLocks noGrp="1"/>
          </p:cNvSpPr>
          <p:nvPr>
            <p:ph type="ctrTitle"/>
          </p:nvPr>
        </p:nvSpPr>
        <p:spPr>
          <a:xfrm>
            <a:off x="2106796" y="1448239"/>
            <a:ext cx="7978385" cy="3211845"/>
          </a:xfrm>
        </p:spPr>
        <p:txBody>
          <a:bodyPr anchor="ctr">
            <a:normAutofit/>
          </a:bodyPr>
          <a:lstStyle/>
          <a:p>
            <a:pPr algn="ctr"/>
            <a:r>
              <a:rPr lang="en-ZA" sz="3600" dirty="0"/>
              <a:t>PROG6212</a:t>
            </a:r>
            <a:br>
              <a:rPr lang="en-ZA" sz="3600" dirty="0"/>
            </a:br>
            <a:r>
              <a:rPr lang="en-ZA" sz="3600" dirty="0"/>
              <a:t>POE Presentation</a:t>
            </a:r>
            <a:br>
              <a:rPr lang="en-ZA" sz="3600" dirty="0"/>
            </a:br>
            <a:r>
              <a:rPr lang="en-ZA" sz="3600" dirty="0"/>
              <a:t>ST10340607</a:t>
            </a:r>
            <a:br>
              <a:rPr lang="en-ZA" sz="3600" dirty="0"/>
            </a:br>
            <a:r>
              <a:rPr lang="en-ZA" sz="3600" dirty="0"/>
              <a:t>Justin Anderssen</a:t>
            </a:r>
          </a:p>
        </p:txBody>
      </p:sp>
    </p:spTree>
    <p:extLst>
      <p:ext uri="{BB962C8B-B14F-4D97-AF65-F5344CB8AC3E}">
        <p14:creationId xmlns:p14="http://schemas.microsoft.com/office/powerpoint/2010/main" val="344498077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AA03DE-E9DB-1310-78A6-15D6B2DDF34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ECD67ED-16EC-E5E9-0D2F-2FE88BA948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blue abstract watercolor pattern on a white background">
            <a:extLst>
              <a:ext uri="{FF2B5EF4-FFF2-40B4-BE49-F238E27FC236}">
                <a16:creationId xmlns:a16="http://schemas.microsoft.com/office/drawing/2014/main" id="{7C50A6F5-4753-BAA9-A7FC-01C5E6D261C9}"/>
              </a:ext>
            </a:extLst>
          </p:cNvPr>
          <p:cNvPicPr>
            <a:picLocks noChangeAspect="1"/>
          </p:cNvPicPr>
          <p:nvPr/>
        </p:nvPicPr>
        <p:blipFill>
          <a:blip r:embed="rId2"/>
          <a:srcRect t="5779" b="9951"/>
          <a:stretch>
            <a:fillRect/>
          </a:stretch>
        </p:blipFill>
        <p:spPr>
          <a:xfrm>
            <a:off x="-1" y="0"/>
            <a:ext cx="12191979" cy="6857990"/>
          </a:xfrm>
          <a:prstGeom prst="rect">
            <a:avLst/>
          </a:prstGeom>
        </p:spPr>
      </p:pic>
      <p:sp>
        <p:nvSpPr>
          <p:cNvPr id="11" name="Rectangle 10">
            <a:extLst>
              <a:ext uri="{FF2B5EF4-FFF2-40B4-BE49-F238E27FC236}">
                <a16:creationId xmlns:a16="http://schemas.microsoft.com/office/drawing/2014/main" id="{09DBAFF5-297B-71B2-CFBA-879F227D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extBox 1">
            <a:extLst>
              <a:ext uri="{FF2B5EF4-FFF2-40B4-BE49-F238E27FC236}">
                <a16:creationId xmlns:a16="http://schemas.microsoft.com/office/drawing/2014/main" id="{7A9E5D44-5022-2D56-328D-627161EE1743}"/>
              </a:ext>
            </a:extLst>
          </p:cNvPr>
          <p:cNvSpPr txBox="1"/>
          <p:nvPr/>
        </p:nvSpPr>
        <p:spPr>
          <a:xfrm>
            <a:off x="4857136" y="265471"/>
            <a:ext cx="2261419" cy="373626"/>
          </a:xfrm>
          <a:prstGeom prst="rect">
            <a:avLst/>
          </a:prstGeom>
          <a:solidFill>
            <a:schemeClr val="tx1"/>
          </a:solidFill>
        </p:spPr>
        <p:txBody>
          <a:bodyPr wrap="square" rtlCol="0">
            <a:spAutoFit/>
          </a:bodyPr>
          <a:lstStyle/>
          <a:p>
            <a:pPr algn="ctr"/>
            <a:r>
              <a:rPr lang="en-ZA" dirty="0">
                <a:solidFill>
                  <a:schemeClr val="bg1"/>
                </a:solidFill>
              </a:rPr>
              <a:t>Lecturer Feedback </a:t>
            </a:r>
          </a:p>
        </p:txBody>
      </p:sp>
      <p:pic>
        <p:nvPicPr>
          <p:cNvPr id="7" name="Picture 6">
            <a:extLst>
              <a:ext uri="{FF2B5EF4-FFF2-40B4-BE49-F238E27FC236}">
                <a16:creationId xmlns:a16="http://schemas.microsoft.com/office/drawing/2014/main" id="{F0AE5487-3D30-61E4-84C0-965FC5F0A90B}"/>
              </a:ext>
            </a:extLst>
          </p:cNvPr>
          <p:cNvPicPr>
            <a:picLocks noChangeAspect="1"/>
          </p:cNvPicPr>
          <p:nvPr/>
        </p:nvPicPr>
        <p:blipFill>
          <a:blip r:embed="rId3"/>
          <a:stretch>
            <a:fillRect/>
          </a:stretch>
        </p:blipFill>
        <p:spPr>
          <a:xfrm>
            <a:off x="480218" y="904558"/>
            <a:ext cx="11231542" cy="1933845"/>
          </a:xfrm>
          <a:prstGeom prst="rect">
            <a:avLst/>
          </a:prstGeom>
        </p:spPr>
      </p:pic>
      <p:sp>
        <p:nvSpPr>
          <p:cNvPr id="8" name="TextBox 7">
            <a:extLst>
              <a:ext uri="{FF2B5EF4-FFF2-40B4-BE49-F238E27FC236}">
                <a16:creationId xmlns:a16="http://schemas.microsoft.com/office/drawing/2014/main" id="{18A39B4A-EF5C-CEB8-F699-0A52A4075BA1}"/>
              </a:ext>
            </a:extLst>
          </p:cNvPr>
          <p:cNvSpPr txBox="1"/>
          <p:nvPr/>
        </p:nvSpPr>
        <p:spPr>
          <a:xfrm>
            <a:off x="564572" y="3076603"/>
            <a:ext cx="11062831" cy="923330"/>
          </a:xfrm>
          <a:prstGeom prst="rect">
            <a:avLst/>
          </a:prstGeom>
          <a:solidFill>
            <a:schemeClr val="tx1"/>
          </a:solidFill>
        </p:spPr>
        <p:txBody>
          <a:bodyPr wrap="square" rtlCol="0">
            <a:spAutoFit/>
          </a:bodyPr>
          <a:lstStyle/>
          <a:p>
            <a:pPr algn="ctr"/>
            <a:r>
              <a:rPr lang="en-ZA" dirty="0">
                <a:solidFill>
                  <a:schemeClr val="bg1"/>
                </a:solidFill>
              </a:rPr>
              <a:t>I Updated my part 3 by ensuring when I make commits that the messages were clear and descriptive. They also needed to guide the reader on what had changed.</a:t>
            </a:r>
            <a:br>
              <a:rPr lang="en-ZA" dirty="0">
                <a:solidFill>
                  <a:schemeClr val="bg1"/>
                </a:solidFill>
              </a:rPr>
            </a:br>
            <a:r>
              <a:rPr lang="en-ZA" dirty="0">
                <a:solidFill>
                  <a:schemeClr val="bg1"/>
                </a:solidFill>
              </a:rPr>
              <a:t>The new part 3 commit messages shown below  </a:t>
            </a:r>
          </a:p>
        </p:txBody>
      </p:sp>
      <p:pic>
        <p:nvPicPr>
          <p:cNvPr id="12" name="Picture 11">
            <a:extLst>
              <a:ext uri="{FF2B5EF4-FFF2-40B4-BE49-F238E27FC236}">
                <a16:creationId xmlns:a16="http://schemas.microsoft.com/office/drawing/2014/main" id="{0D23D337-1916-84FD-475A-40020EBDA6B9}"/>
              </a:ext>
            </a:extLst>
          </p:cNvPr>
          <p:cNvPicPr>
            <a:picLocks noChangeAspect="1"/>
          </p:cNvPicPr>
          <p:nvPr/>
        </p:nvPicPr>
        <p:blipFill>
          <a:blip r:embed="rId4"/>
          <a:stretch>
            <a:fillRect/>
          </a:stretch>
        </p:blipFill>
        <p:spPr>
          <a:xfrm>
            <a:off x="1283210" y="4113345"/>
            <a:ext cx="9625554" cy="2631233"/>
          </a:xfrm>
          <a:prstGeom prst="rect">
            <a:avLst/>
          </a:prstGeom>
        </p:spPr>
      </p:pic>
    </p:spTree>
    <p:extLst>
      <p:ext uri="{BB962C8B-B14F-4D97-AF65-F5344CB8AC3E}">
        <p14:creationId xmlns:p14="http://schemas.microsoft.com/office/powerpoint/2010/main" val="167411728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705E06-A109-9965-4C0B-5057BF31A26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D8D2DD6-1D5C-8F39-737A-DB06D55B79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blue abstract watercolor pattern on a white background">
            <a:extLst>
              <a:ext uri="{FF2B5EF4-FFF2-40B4-BE49-F238E27FC236}">
                <a16:creationId xmlns:a16="http://schemas.microsoft.com/office/drawing/2014/main" id="{91DBFBA5-1A06-D34E-07B4-6019E4F9C36C}"/>
              </a:ext>
            </a:extLst>
          </p:cNvPr>
          <p:cNvPicPr>
            <a:picLocks noChangeAspect="1"/>
          </p:cNvPicPr>
          <p:nvPr/>
        </p:nvPicPr>
        <p:blipFill>
          <a:blip r:embed="rId2"/>
          <a:srcRect t="5779" b="9951"/>
          <a:stretch>
            <a:fillRect/>
          </a:stretch>
        </p:blipFill>
        <p:spPr>
          <a:xfrm>
            <a:off x="0" y="10"/>
            <a:ext cx="12191979" cy="6857990"/>
          </a:xfrm>
          <a:prstGeom prst="rect">
            <a:avLst/>
          </a:prstGeom>
        </p:spPr>
      </p:pic>
      <p:sp>
        <p:nvSpPr>
          <p:cNvPr id="11" name="Rectangle 10">
            <a:extLst>
              <a:ext uri="{FF2B5EF4-FFF2-40B4-BE49-F238E27FC236}">
                <a16:creationId xmlns:a16="http://schemas.microsoft.com/office/drawing/2014/main" id="{183A8D15-8F8E-A3F7-7E31-FE4F8ED1E1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extBox 1">
            <a:extLst>
              <a:ext uri="{FF2B5EF4-FFF2-40B4-BE49-F238E27FC236}">
                <a16:creationId xmlns:a16="http://schemas.microsoft.com/office/drawing/2014/main" id="{99871DAD-6FCB-572B-BF12-039DE6005C43}"/>
              </a:ext>
            </a:extLst>
          </p:cNvPr>
          <p:cNvSpPr txBox="1"/>
          <p:nvPr/>
        </p:nvSpPr>
        <p:spPr>
          <a:xfrm>
            <a:off x="4857136" y="265471"/>
            <a:ext cx="2261419" cy="373626"/>
          </a:xfrm>
          <a:prstGeom prst="rect">
            <a:avLst/>
          </a:prstGeom>
          <a:solidFill>
            <a:schemeClr val="tx1"/>
          </a:solidFill>
        </p:spPr>
        <p:txBody>
          <a:bodyPr wrap="square" rtlCol="0">
            <a:spAutoFit/>
          </a:bodyPr>
          <a:lstStyle/>
          <a:p>
            <a:pPr algn="ctr"/>
            <a:r>
              <a:rPr lang="en-ZA" dirty="0">
                <a:solidFill>
                  <a:schemeClr val="bg1"/>
                </a:solidFill>
              </a:rPr>
              <a:t>Lecturer Feedback </a:t>
            </a:r>
          </a:p>
        </p:txBody>
      </p:sp>
      <p:sp>
        <p:nvSpPr>
          <p:cNvPr id="3" name="TextBox 2">
            <a:extLst>
              <a:ext uri="{FF2B5EF4-FFF2-40B4-BE49-F238E27FC236}">
                <a16:creationId xmlns:a16="http://schemas.microsoft.com/office/drawing/2014/main" id="{DA400A4C-913A-9000-210F-E63535DFBBB1}"/>
              </a:ext>
            </a:extLst>
          </p:cNvPr>
          <p:cNvSpPr txBox="1"/>
          <p:nvPr/>
        </p:nvSpPr>
        <p:spPr>
          <a:xfrm>
            <a:off x="521110" y="855406"/>
            <a:ext cx="11267767" cy="646331"/>
          </a:xfrm>
          <a:prstGeom prst="rect">
            <a:avLst/>
          </a:prstGeom>
          <a:solidFill>
            <a:schemeClr val="tx1"/>
          </a:solidFill>
        </p:spPr>
        <p:txBody>
          <a:bodyPr wrap="square" rtlCol="0">
            <a:spAutoFit/>
          </a:bodyPr>
          <a:lstStyle/>
          <a:p>
            <a:pPr algn="ctr"/>
            <a:r>
              <a:rPr lang="en-ZA" dirty="0">
                <a:solidFill>
                  <a:schemeClr val="bg1"/>
                </a:solidFill>
              </a:rPr>
              <a:t>I Changed the look of the GUI to look more appealing and used different colours to attract the users attention and help guide the user better like for claims that are denied I used red and green for the approved ones </a:t>
            </a:r>
          </a:p>
        </p:txBody>
      </p:sp>
      <p:pic>
        <p:nvPicPr>
          <p:cNvPr id="8" name="Picture 7">
            <a:extLst>
              <a:ext uri="{FF2B5EF4-FFF2-40B4-BE49-F238E27FC236}">
                <a16:creationId xmlns:a16="http://schemas.microsoft.com/office/drawing/2014/main" id="{E6591524-7FFE-1DCD-BDCB-8E2AC45C57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8633" y="1600235"/>
            <a:ext cx="8858865" cy="4665763"/>
          </a:xfrm>
          <a:prstGeom prst="rect">
            <a:avLst/>
          </a:prstGeom>
        </p:spPr>
      </p:pic>
    </p:spTree>
    <p:extLst>
      <p:ext uri="{BB962C8B-B14F-4D97-AF65-F5344CB8AC3E}">
        <p14:creationId xmlns:p14="http://schemas.microsoft.com/office/powerpoint/2010/main" val="3660454099"/>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39EC7C-D516-7D02-521E-389BCF7063F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8CA6248-7F79-79C0-59DD-F5EB3DD2F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blue abstract watercolor pattern on a white background">
            <a:extLst>
              <a:ext uri="{FF2B5EF4-FFF2-40B4-BE49-F238E27FC236}">
                <a16:creationId xmlns:a16="http://schemas.microsoft.com/office/drawing/2014/main" id="{487A6F6F-5E06-F28C-CD2E-01DB2DFB97E6}"/>
              </a:ext>
            </a:extLst>
          </p:cNvPr>
          <p:cNvPicPr>
            <a:picLocks noChangeAspect="1"/>
          </p:cNvPicPr>
          <p:nvPr/>
        </p:nvPicPr>
        <p:blipFill>
          <a:blip r:embed="rId2"/>
          <a:srcRect t="5779" b="9951"/>
          <a:stretch>
            <a:fillRect/>
          </a:stretch>
        </p:blipFill>
        <p:spPr>
          <a:xfrm>
            <a:off x="0" y="10"/>
            <a:ext cx="12191979" cy="6857990"/>
          </a:xfrm>
          <a:prstGeom prst="rect">
            <a:avLst/>
          </a:prstGeom>
        </p:spPr>
      </p:pic>
      <p:sp>
        <p:nvSpPr>
          <p:cNvPr id="11" name="Rectangle 10">
            <a:extLst>
              <a:ext uri="{FF2B5EF4-FFF2-40B4-BE49-F238E27FC236}">
                <a16:creationId xmlns:a16="http://schemas.microsoft.com/office/drawing/2014/main" id="{B79D0341-6C3D-6449-C829-60DFA7AC3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8" name="Picture 7">
            <a:extLst>
              <a:ext uri="{FF2B5EF4-FFF2-40B4-BE49-F238E27FC236}">
                <a16:creationId xmlns:a16="http://schemas.microsoft.com/office/drawing/2014/main" id="{D26F9200-F69A-BF65-28C6-E7B12934D9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3451" y="703640"/>
            <a:ext cx="8225097" cy="4320643"/>
          </a:xfrm>
          <a:prstGeom prst="rect">
            <a:avLst/>
          </a:prstGeom>
        </p:spPr>
      </p:pic>
      <p:sp>
        <p:nvSpPr>
          <p:cNvPr id="10" name="TextBox 9">
            <a:extLst>
              <a:ext uri="{FF2B5EF4-FFF2-40B4-BE49-F238E27FC236}">
                <a16:creationId xmlns:a16="http://schemas.microsoft.com/office/drawing/2014/main" id="{A37CB30A-576B-AC94-4BF1-7E08683F2680}"/>
              </a:ext>
            </a:extLst>
          </p:cNvPr>
          <p:cNvSpPr txBox="1"/>
          <p:nvPr/>
        </p:nvSpPr>
        <p:spPr>
          <a:xfrm>
            <a:off x="4552335" y="235974"/>
            <a:ext cx="3018504" cy="369332"/>
          </a:xfrm>
          <a:prstGeom prst="rect">
            <a:avLst/>
          </a:prstGeom>
          <a:solidFill>
            <a:schemeClr val="tx1"/>
          </a:solidFill>
        </p:spPr>
        <p:txBody>
          <a:bodyPr wrap="square" rtlCol="0">
            <a:spAutoFit/>
          </a:bodyPr>
          <a:lstStyle/>
          <a:p>
            <a:r>
              <a:rPr lang="en-ZA" dirty="0">
                <a:solidFill>
                  <a:schemeClr val="bg1"/>
                </a:solidFill>
              </a:rPr>
              <a:t>Submit Claim Page Part 3 </a:t>
            </a:r>
          </a:p>
        </p:txBody>
      </p:sp>
      <p:sp>
        <p:nvSpPr>
          <p:cNvPr id="12" name="TextBox 11">
            <a:extLst>
              <a:ext uri="{FF2B5EF4-FFF2-40B4-BE49-F238E27FC236}">
                <a16:creationId xmlns:a16="http://schemas.microsoft.com/office/drawing/2014/main" id="{DE57C2B1-9C93-DBAD-4BE7-AB97EA3F4CA5}"/>
              </a:ext>
            </a:extLst>
          </p:cNvPr>
          <p:cNvSpPr txBox="1"/>
          <p:nvPr/>
        </p:nvSpPr>
        <p:spPr>
          <a:xfrm>
            <a:off x="845553" y="5122617"/>
            <a:ext cx="10609007" cy="923330"/>
          </a:xfrm>
          <a:prstGeom prst="rect">
            <a:avLst/>
          </a:prstGeom>
          <a:solidFill>
            <a:schemeClr val="tx1"/>
          </a:solidFill>
        </p:spPr>
        <p:txBody>
          <a:bodyPr wrap="square" rtlCol="0">
            <a:spAutoFit/>
          </a:bodyPr>
          <a:lstStyle/>
          <a:p>
            <a:pPr algn="ctr"/>
            <a:r>
              <a:rPr lang="en-ZA" dirty="0">
                <a:solidFill>
                  <a:schemeClr val="bg1"/>
                </a:solidFill>
              </a:rPr>
              <a:t>This is where the lecturer submits their claim, the lecturer amount is auto calculated based on the lecturer that logs in, which is set by the hr.</a:t>
            </a:r>
          </a:p>
          <a:p>
            <a:pPr algn="ctr"/>
            <a:r>
              <a:rPr lang="en-ZA" dirty="0">
                <a:solidFill>
                  <a:schemeClr val="bg1"/>
                </a:solidFill>
              </a:rPr>
              <a:t>There is also auto validation if the field aren’t fill in correctly </a:t>
            </a:r>
          </a:p>
        </p:txBody>
      </p:sp>
    </p:spTree>
    <p:extLst>
      <p:ext uri="{BB962C8B-B14F-4D97-AF65-F5344CB8AC3E}">
        <p14:creationId xmlns:p14="http://schemas.microsoft.com/office/powerpoint/2010/main" val="2498967594"/>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D2EE8E-4514-612A-0672-1052BDCA7A2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757B51C-3440-6528-C3F4-C1F726773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blue abstract watercolor pattern on a white background">
            <a:extLst>
              <a:ext uri="{FF2B5EF4-FFF2-40B4-BE49-F238E27FC236}">
                <a16:creationId xmlns:a16="http://schemas.microsoft.com/office/drawing/2014/main" id="{42384CF1-8AE0-6BED-824B-A52E5696C358}"/>
              </a:ext>
            </a:extLst>
          </p:cNvPr>
          <p:cNvPicPr>
            <a:picLocks noChangeAspect="1"/>
          </p:cNvPicPr>
          <p:nvPr/>
        </p:nvPicPr>
        <p:blipFill>
          <a:blip r:embed="rId2"/>
          <a:srcRect t="5779" b="9951"/>
          <a:stretch>
            <a:fillRect/>
          </a:stretch>
        </p:blipFill>
        <p:spPr>
          <a:xfrm>
            <a:off x="0" y="10"/>
            <a:ext cx="12191979" cy="6857990"/>
          </a:xfrm>
          <a:prstGeom prst="rect">
            <a:avLst/>
          </a:prstGeom>
        </p:spPr>
      </p:pic>
      <p:sp>
        <p:nvSpPr>
          <p:cNvPr id="11" name="Rectangle 10">
            <a:extLst>
              <a:ext uri="{FF2B5EF4-FFF2-40B4-BE49-F238E27FC236}">
                <a16:creationId xmlns:a16="http://schemas.microsoft.com/office/drawing/2014/main" id="{433CD987-D349-2EC8-D79D-BAE98DA2D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6" name="Picture 5">
            <a:extLst>
              <a:ext uri="{FF2B5EF4-FFF2-40B4-BE49-F238E27FC236}">
                <a16:creationId xmlns:a16="http://schemas.microsoft.com/office/drawing/2014/main" id="{7DD5AA58-584E-8EEE-31F3-78EDA512C6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3344" y="1371689"/>
            <a:ext cx="7585289" cy="735786"/>
          </a:xfrm>
          <a:prstGeom prst="rect">
            <a:avLst/>
          </a:prstGeom>
        </p:spPr>
      </p:pic>
      <p:pic>
        <p:nvPicPr>
          <p:cNvPr id="8" name="Picture 7">
            <a:extLst>
              <a:ext uri="{FF2B5EF4-FFF2-40B4-BE49-F238E27FC236}">
                <a16:creationId xmlns:a16="http://schemas.microsoft.com/office/drawing/2014/main" id="{A031DEC8-5ABB-029D-58D2-A31625F3BB4F}"/>
              </a:ext>
            </a:extLst>
          </p:cNvPr>
          <p:cNvPicPr>
            <a:picLocks noChangeAspect="1"/>
          </p:cNvPicPr>
          <p:nvPr/>
        </p:nvPicPr>
        <p:blipFill>
          <a:blip r:embed="rId4"/>
          <a:stretch>
            <a:fillRect/>
          </a:stretch>
        </p:blipFill>
        <p:spPr>
          <a:xfrm>
            <a:off x="2138971" y="4257314"/>
            <a:ext cx="7914034" cy="2180961"/>
          </a:xfrm>
          <a:prstGeom prst="rect">
            <a:avLst/>
          </a:prstGeom>
        </p:spPr>
      </p:pic>
      <p:sp>
        <p:nvSpPr>
          <p:cNvPr id="10" name="TextBox 9">
            <a:extLst>
              <a:ext uri="{FF2B5EF4-FFF2-40B4-BE49-F238E27FC236}">
                <a16:creationId xmlns:a16="http://schemas.microsoft.com/office/drawing/2014/main" id="{0A7212BC-91F6-25F2-02A8-6881EE03A1CA}"/>
              </a:ext>
            </a:extLst>
          </p:cNvPr>
          <p:cNvSpPr txBox="1"/>
          <p:nvPr/>
        </p:nvSpPr>
        <p:spPr>
          <a:xfrm>
            <a:off x="3270342" y="419725"/>
            <a:ext cx="5651292" cy="646331"/>
          </a:xfrm>
          <a:prstGeom prst="rect">
            <a:avLst/>
          </a:prstGeom>
          <a:solidFill>
            <a:schemeClr val="tx1"/>
          </a:solidFill>
        </p:spPr>
        <p:txBody>
          <a:bodyPr wrap="square" rtlCol="0">
            <a:spAutoFit/>
          </a:bodyPr>
          <a:lstStyle/>
          <a:p>
            <a:pPr algn="ctr"/>
            <a:r>
              <a:rPr lang="en-ZA" dirty="0">
                <a:solidFill>
                  <a:schemeClr val="bg1"/>
                </a:solidFill>
              </a:rPr>
              <a:t>The code below show the auto calculation logic for the application </a:t>
            </a:r>
          </a:p>
        </p:txBody>
      </p:sp>
      <p:sp>
        <p:nvSpPr>
          <p:cNvPr id="12" name="TextBox 11">
            <a:extLst>
              <a:ext uri="{FF2B5EF4-FFF2-40B4-BE49-F238E27FC236}">
                <a16:creationId xmlns:a16="http://schemas.microsoft.com/office/drawing/2014/main" id="{17AD43F3-BB04-3F34-EA8B-39D0EC308C52}"/>
              </a:ext>
            </a:extLst>
          </p:cNvPr>
          <p:cNvSpPr txBox="1"/>
          <p:nvPr/>
        </p:nvSpPr>
        <p:spPr>
          <a:xfrm>
            <a:off x="3270342" y="2861200"/>
            <a:ext cx="5651292" cy="923330"/>
          </a:xfrm>
          <a:prstGeom prst="rect">
            <a:avLst/>
          </a:prstGeom>
          <a:solidFill>
            <a:schemeClr val="tx1"/>
          </a:solidFill>
        </p:spPr>
        <p:txBody>
          <a:bodyPr wrap="square" rtlCol="0">
            <a:spAutoFit/>
          </a:bodyPr>
          <a:lstStyle/>
          <a:p>
            <a:pPr algn="ctr"/>
            <a:r>
              <a:rPr lang="en-ZA" dirty="0">
                <a:solidFill>
                  <a:schemeClr val="bg1"/>
                </a:solidFill>
              </a:rPr>
              <a:t>The code below shows one of the four validation checks, this one is checking if the hours a lecturer can works is above 0.1 and below 180 </a:t>
            </a:r>
          </a:p>
        </p:txBody>
      </p:sp>
    </p:spTree>
    <p:extLst>
      <p:ext uri="{BB962C8B-B14F-4D97-AF65-F5344CB8AC3E}">
        <p14:creationId xmlns:p14="http://schemas.microsoft.com/office/powerpoint/2010/main" val="4014460437"/>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76162E-5307-A264-3E9F-B58355D95FE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F4CAE46-0BCA-A4AA-124F-703C33D21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blue abstract watercolor pattern on a white background">
            <a:extLst>
              <a:ext uri="{FF2B5EF4-FFF2-40B4-BE49-F238E27FC236}">
                <a16:creationId xmlns:a16="http://schemas.microsoft.com/office/drawing/2014/main" id="{B1D22316-CC77-E63C-22C9-CD7BF1D75B2A}"/>
              </a:ext>
            </a:extLst>
          </p:cNvPr>
          <p:cNvPicPr>
            <a:picLocks noChangeAspect="1"/>
          </p:cNvPicPr>
          <p:nvPr/>
        </p:nvPicPr>
        <p:blipFill>
          <a:blip r:embed="rId2"/>
          <a:srcRect t="5779" b="9951"/>
          <a:stretch>
            <a:fillRect/>
          </a:stretch>
        </p:blipFill>
        <p:spPr>
          <a:xfrm>
            <a:off x="0" y="10"/>
            <a:ext cx="12191979" cy="6857990"/>
          </a:xfrm>
          <a:prstGeom prst="rect">
            <a:avLst/>
          </a:prstGeom>
        </p:spPr>
      </p:pic>
      <p:sp>
        <p:nvSpPr>
          <p:cNvPr id="11" name="Rectangle 10">
            <a:extLst>
              <a:ext uri="{FF2B5EF4-FFF2-40B4-BE49-F238E27FC236}">
                <a16:creationId xmlns:a16="http://schemas.microsoft.com/office/drawing/2014/main" id="{12A45129-BB5D-92C1-8D67-4E4AE1C8C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6" name="Picture 5">
            <a:extLst>
              <a:ext uri="{FF2B5EF4-FFF2-40B4-BE49-F238E27FC236}">
                <a16:creationId xmlns:a16="http://schemas.microsoft.com/office/drawing/2014/main" id="{B8B45C1F-83FB-53CC-3DF2-DD20E1B8787E}"/>
              </a:ext>
            </a:extLst>
          </p:cNvPr>
          <p:cNvPicPr>
            <a:picLocks noChangeAspect="1"/>
          </p:cNvPicPr>
          <p:nvPr/>
        </p:nvPicPr>
        <p:blipFill>
          <a:blip r:embed="rId3"/>
          <a:stretch>
            <a:fillRect/>
          </a:stretch>
        </p:blipFill>
        <p:spPr>
          <a:xfrm>
            <a:off x="2218545" y="1731993"/>
            <a:ext cx="8139660" cy="4267477"/>
          </a:xfrm>
          <a:prstGeom prst="rect">
            <a:avLst/>
          </a:prstGeom>
        </p:spPr>
      </p:pic>
      <p:sp>
        <p:nvSpPr>
          <p:cNvPr id="7" name="TextBox 6">
            <a:extLst>
              <a:ext uri="{FF2B5EF4-FFF2-40B4-BE49-F238E27FC236}">
                <a16:creationId xmlns:a16="http://schemas.microsoft.com/office/drawing/2014/main" id="{BAF122A4-012C-97C3-55EB-061DD7C902AA}"/>
              </a:ext>
            </a:extLst>
          </p:cNvPr>
          <p:cNvSpPr txBox="1"/>
          <p:nvPr/>
        </p:nvSpPr>
        <p:spPr>
          <a:xfrm>
            <a:off x="2158584" y="314793"/>
            <a:ext cx="8574373" cy="923330"/>
          </a:xfrm>
          <a:prstGeom prst="rect">
            <a:avLst/>
          </a:prstGeom>
          <a:solidFill>
            <a:schemeClr val="tx1"/>
          </a:solidFill>
        </p:spPr>
        <p:txBody>
          <a:bodyPr wrap="square" rtlCol="0">
            <a:spAutoFit/>
          </a:bodyPr>
          <a:lstStyle/>
          <a:p>
            <a:pPr algn="ctr"/>
            <a:r>
              <a:rPr lang="en-ZA" dirty="0">
                <a:solidFill>
                  <a:schemeClr val="bg1"/>
                </a:solidFill>
              </a:rPr>
              <a:t>The programme Co-Ordinator now has automatic validation for all the different claims to ensure that all the required information is there. They can then approve or reject the claim    </a:t>
            </a:r>
          </a:p>
        </p:txBody>
      </p:sp>
    </p:spTree>
    <p:extLst>
      <p:ext uri="{BB962C8B-B14F-4D97-AF65-F5344CB8AC3E}">
        <p14:creationId xmlns:p14="http://schemas.microsoft.com/office/powerpoint/2010/main" val="664939977"/>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1EFD89-B8D1-5614-2A77-A73DEFCE123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3EB1962-9F59-728D-67E9-31966712D7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blue abstract watercolor pattern on a white background">
            <a:extLst>
              <a:ext uri="{FF2B5EF4-FFF2-40B4-BE49-F238E27FC236}">
                <a16:creationId xmlns:a16="http://schemas.microsoft.com/office/drawing/2014/main" id="{BD52F201-952B-70FF-426E-2FD1AC853C41}"/>
              </a:ext>
            </a:extLst>
          </p:cNvPr>
          <p:cNvPicPr>
            <a:picLocks noChangeAspect="1"/>
          </p:cNvPicPr>
          <p:nvPr/>
        </p:nvPicPr>
        <p:blipFill>
          <a:blip r:embed="rId2"/>
          <a:srcRect t="5779" b="9951"/>
          <a:stretch>
            <a:fillRect/>
          </a:stretch>
        </p:blipFill>
        <p:spPr>
          <a:xfrm>
            <a:off x="0" y="10"/>
            <a:ext cx="12191979" cy="6857990"/>
          </a:xfrm>
          <a:prstGeom prst="rect">
            <a:avLst/>
          </a:prstGeom>
        </p:spPr>
      </p:pic>
      <p:sp>
        <p:nvSpPr>
          <p:cNvPr id="11" name="Rectangle 10">
            <a:extLst>
              <a:ext uri="{FF2B5EF4-FFF2-40B4-BE49-F238E27FC236}">
                <a16:creationId xmlns:a16="http://schemas.microsoft.com/office/drawing/2014/main" id="{2D21F041-417B-B612-109E-265D4E68D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7" name="TextBox 6">
            <a:extLst>
              <a:ext uri="{FF2B5EF4-FFF2-40B4-BE49-F238E27FC236}">
                <a16:creationId xmlns:a16="http://schemas.microsoft.com/office/drawing/2014/main" id="{C0EABE6B-6219-FF26-4C8A-5D11380AFD38}"/>
              </a:ext>
            </a:extLst>
          </p:cNvPr>
          <p:cNvSpPr txBox="1"/>
          <p:nvPr/>
        </p:nvSpPr>
        <p:spPr>
          <a:xfrm>
            <a:off x="2158584" y="314793"/>
            <a:ext cx="8574373" cy="1200329"/>
          </a:xfrm>
          <a:prstGeom prst="rect">
            <a:avLst/>
          </a:prstGeom>
          <a:solidFill>
            <a:schemeClr val="tx1"/>
          </a:solidFill>
        </p:spPr>
        <p:txBody>
          <a:bodyPr wrap="square" rtlCol="0">
            <a:spAutoFit/>
          </a:bodyPr>
          <a:lstStyle/>
          <a:p>
            <a:pPr algn="ctr"/>
            <a:r>
              <a:rPr lang="en-ZA" dirty="0">
                <a:solidFill>
                  <a:schemeClr val="bg1"/>
                </a:solidFill>
              </a:rPr>
              <a:t>The code below shows the logic for the automated checks for the Programme Co Ordinator. </a:t>
            </a:r>
            <a:br>
              <a:rPr lang="en-ZA" dirty="0">
                <a:solidFill>
                  <a:schemeClr val="bg1"/>
                </a:solidFill>
              </a:rPr>
            </a:br>
            <a:r>
              <a:rPr lang="en-ZA" dirty="0">
                <a:solidFill>
                  <a:schemeClr val="bg1"/>
                </a:solidFill>
              </a:rPr>
              <a:t>The code takes the value and compares it to pre-set values in order to determine if  the information has been provided </a:t>
            </a:r>
          </a:p>
        </p:txBody>
      </p:sp>
      <p:pic>
        <p:nvPicPr>
          <p:cNvPr id="3" name="Picture 2">
            <a:extLst>
              <a:ext uri="{FF2B5EF4-FFF2-40B4-BE49-F238E27FC236}">
                <a16:creationId xmlns:a16="http://schemas.microsoft.com/office/drawing/2014/main" id="{DE729B66-8D6B-B447-A424-CA592EAE0A1D}"/>
              </a:ext>
            </a:extLst>
          </p:cNvPr>
          <p:cNvPicPr>
            <a:picLocks noChangeAspect="1"/>
          </p:cNvPicPr>
          <p:nvPr/>
        </p:nvPicPr>
        <p:blipFill>
          <a:blip r:embed="rId3"/>
          <a:stretch>
            <a:fillRect/>
          </a:stretch>
        </p:blipFill>
        <p:spPr>
          <a:xfrm>
            <a:off x="2936405" y="1773727"/>
            <a:ext cx="6319168" cy="4705941"/>
          </a:xfrm>
          <a:prstGeom prst="rect">
            <a:avLst/>
          </a:prstGeom>
        </p:spPr>
      </p:pic>
    </p:spTree>
    <p:extLst>
      <p:ext uri="{BB962C8B-B14F-4D97-AF65-F5344CB8AC3E}">
        <p14:creationId xmlns:p14="http://schemas.microsoft.com/office/powerpoint/2010/main" val="1195705252"/>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DFF654-1C49-4E16-0D0F-0BEA2A85A90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E1B9FE1-79CB-534A-8DFF-293EC52C9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blue abstract watercolor pattern on a white background">
            <a:extLst>
              <a:ext uri="{FF2B5EF4-FFF2-40B4-BE49-F238E27FC236}">
                <a16:creationId xmlns:a16="http://schemas.microsoft.com/office/drawing/2014/main" id="{64E6B277-9AC8-F481-16B7-BD93535441D1}"/>
              </a:ext>
            </a:extLst>
          </p:cNvPr>
          <p:cNvPicPr>
            <a:picLocks noChangeAspect="1"/>
          </p:cNvPicPr>
          <p:nvPr/>
        </p:nvPicPr>
        <p:blipFill>
          <a:blip r:embed="rId2"/>
          <a:srcRect t="5779" b="9951"/>
          <a:stretch>
            <a:fillRect/>
          </a:stretch>
        </p:blipFill>
        <p:spPr>
          <a:xfrm>
            <a:off x="0" y="10"/>
            <a:ext cx="12191979" cy="6857990"/>
          </a:xfrm>
          <a:prstGeom prst="rect">
            <a:avLst/>
          </a:prstGeom>
        </p:spPr>
      </p:pic>
      <p:sp>
        <p:nvSpPr>
          <p:cNvPr id="11" name="Rectangle 10">
            <a:extLst>
              <a:ext uri="{FF2B5EF4-FFF2-40B4-BE49-F238E27FC236}">
                <a16:creationId xmlns:a16="http://schemas.microsoft.com/office/drawing/2014/main" id="{3F16CE65-6ACC-C2EB-55BC-12B56D504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5" name="Picture 4">
            <a:extLst>
              <a:ext uri="{FF2B5EF4-FFF2-40B4-BE49-F238E27FC236}">
                <a16:creationId xmlns:a16="http://schemas.microsoft.com/office/drawing/2014/main" id="{46F05231-53D2-591D-CA1A-EE8D60B960D4}"/>
              </a:ext>
            </a:extLst>
          </p:cNvPr>
          <p:cNvPicPr>
            <a:picLocks noChangeAspect="1"/>
          </p:cNvPicPr>
          <p:nvPr/>
        </p:nvPicPr>
        <p:blipFill>
          <a:blip r:embed="rId3"/>
          <a:stretch>
            <a:fillRect/>
          </a:stretch>
        </p:blipFill>
        <p:spPr>
          <a:xfrm>
            <a:off x="1503746" y="1231085"/>
            <a:ext cx="9717369" cy="4845606"/>
          </a:xfrm>
          <a:prstGeom prst="rect">
            <a:avLst/>
          </a:prstGeom>
        </p:spPr>
      </p:pic>
      <p:sp>
        <p:nvSpPr>
          <p:cNvPr id="6" name="TextBox 5">
            <a:extLst>
              <a:ext uri="{FF2B5EF4-FFF2-40B4-BE49-F238E27FC236}">
                <a16:creationId xmlns:a16="http://schemas.microsoft.com/office/drawing/2014/main" id="{B91FADB8-9DEA-39F7-353C-42D4915AC019}"/>
              </a:ext>
            </a:extLst>
          </p:cNvPr>
          <p:cNvSpPr txBox="1"/>
          <p:nvPr/>
        </p:nvSpPr>
        <p:spPr>
          <a:xfrm>
            <a:off x="2413416" y="194872"/>
            <a:ext cx="8214610" cy="646331"/>
          </a:xfrm>
          <a:prstGeom prst="rect">
            <a:avLst/>
          </a:prstGeom>
          <a:solidFill>
            <a:schemeClr val="tx1"/>
          </a:solidFill>
        </p:spPr>
        <p:txBody>
          <a:bodyPr wrap="square" rtlCol="0">
            <a:spAutoFit/>
          </a:bodyPr>
          <a:lstStyle/>
          <a:p>
            <a:pPr algn="ctr"/>
            <a:r>
              <a:rPr lang="en-ZA" dirty="0">
                <a:solidFill>
                  <a:schemeClr val="bg1"/>
                </a:solidFill>
              </a:rPr>
              <a:t>This is the validation checks for the Academic manager.</a:t>
            </a:r>
            <a:br>
              <a:rPr lang="en-ZA" dirty="0">
                <a:solidFill>
                  <a:schemeClr val="bg1"/>
                </a:solidFill>
              </a:rPr>
            </a:br>
            <a:r>
              <a:rPr lang="en-ZA" dirty="0">
                <a:solidFill>
                  <a:schemeClr val="bg1"/>
                </a:solidFill>
              </a:rPr>
              <a:t>It works in the same way as it does for the programme manager </a:t>
            </a:r>
          </a:p>
        </p:txBody>
      </p:sp>
    </p:spTree>
    <p:extLst>
      <p:ext uri="{BB962C8B-B14F-4D97-AF65-F5344CB8AC3E}">
        <p14:creationId xmlns:p14="http://schemas.microsoft.com/office/powerpoint/2010/main" val="4273169885"/>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CE4827-E33C-54AC-4A96-75F8A606CE7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06166F-AAA9-D0E9-5B64-7FC87BA6D3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blue abstract watercolor pattern on a white background">
            <a:extLst>
              <a:ext uri="{FF2B5EF4-FFF2-40B4-BE49-F238E27FC236}">
                <a16:creationId xmlns:a16="http://schemas.microsoft.com/office/drawing/2014/main" id="{154659EC-616F-295B-9511-5D6AB1C165D3}"/>
              </a:ext>
            </a:extLst>
          </p:cNvPr>
          <p:cNvPicPr>
            <a:picLocks noChangeAspect="1"/>
          </p:cNvPicPr>
          <p:nvPr/>
        </p:nvPicPr>
        <p:blipFill>
          <a:blip r:embed="rId2"/>
          <a:srcRect t="5779" b="9951"/>
          <a:stretch>
            <a:fillRect/>
          </a:stretch>
        </p:blipFill>
        <p:spPr>
          <a:xfrm>
            <a:off x="0" y="10"/>
            <a:ext cx="12191979" cy="6857990"/>
          </a:xfrm>
          <a:prstGeom prst="rect">
            <a:avLst/>
          </a:prstGeom>
        </p:spPr>
      </p:pic>
      <p:sp>
        <p:nvSpPr>
          <p:cNvPr id="11" name="Rectangle 10">
            <a:extLst>
              <a:ext uri="{FF2B5EF4-FFF2-40B4-BE49-F238E27FC236}">
                <a16:creationId xmlns:a16="http://schemas.microsoft.com/office/drawing/2014/main" id="{E4FD0145-349B-CE55-771D-D8C2F167F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3" name="Picture 2">
            <a:extLst>
              <a:ext uri="{FF2B5EF4-FFF2-40B4-BE49-F238E27FC236}">
                <a16:creationId xmlns:a16="http://schemas.microsoft.com/office/drawing/2014/main" id="{6FE2F1AF-E02C-7DE9-E014-D44989DDD36E}"/>
              </a:ext>
            </a:extLst>
          </p:cNvPr>
          <p:cNvPicPr>
            <a:picLocks noChangeAspect="1"/>
          </p:cNvPicPr>
          <p:nvPr/>
        </p:nvPicPr>
        <p:blipFill>
          <a:blip r:embed="rId3"/>
          <a:stretch>
            <a:fillRect/>
          </a:stretch>
        </p:blipFill>
        <p:spPr>
          <a:xfrm>
            <a:off x="2173574" y="1288573"/>
            <a:ext cx="7959777" cy="5254634"/>
          </a:xfrm>
          <a:prstGeom prst="rect">
            <a:avLst/>
          </a:prstGeom>
        </p:spPr>
      </p:pic>
      <p:sp>
        <p:nvSpPr>
          <p:cNvPr id="6" name="TextBox 5">
            <a:extLst>
              <a:ext uri="{FF2B5EF4-FFF2-40B4-BE49-F238E27FC236}">
                <a16:creationId xmlns:a16="http://schemas.microsoft.com/office/drawing/2014/main" id="{C9ED8645-59A6-0AFA-0EA5-C06E87C6C930}"/>
              </a:ext>
            </a:extLst>
          </p:cNvPr>
          <p:cNvSpPr txBox="1"/>
          <p:nvPr/>
        </p:nvSpPr>
        <p:spPr>
          <a:xfrm>
            <a:off x="2173574" y="314793"/>
            <a:ext cx="7959777" cy="646331"/>
          </a:xfrm>
          <a:prstGeom prst="rect">
            <a:avLst/>
          </a:prstGeom>
          <a:solidFill>
            <a:schemeClr val="tx1"/>
          </a:solidFill>
        </p:spPr>
        <p:txBody>
          <a:bodyPr wrap="square" rtlCol="0">
            <a:spAutoFit/>
          </a:bodyPr>
          <a:lstStyle/>
          <a:p>
            <a:pPr algn="ctr"/>
            <a:r>
              <a:rPr lang="en-ZA" dirty="0">
                <a:solidFill>
                  <a:schemeClr val="bg1"/>
                </a:solidFill>
              </a:rPr>
              <a:t>This is the HR dashboard from here they are able to create, delete and edit  users and view reports </a:t>
            </a:r>
          </a:p>
        </p:txBody>
      </p:sp>
    </p:spTree>
    <p:extLst>
      <p:ext uri="{BB962C8B-B14F-4D97-AF65-F5344CB8AC3E}">
        <p14:creationId xmlns:p14="http://schemas.microsoft.com/office/powerpoint/2010/main" val="443710247"/>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DB6B88-B170-64D7-62BD-63F5AA5823D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57A5D41-7B0E-C578-8357-EFB4A281D7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blue abstract watercolor pattern on a white background">
            <a:extLst>
              <a:ext uri="{FF2B5EF4-FFF2-40B4-BE49-F238E27FC236}">
                <a16:creationId xmlns:a16="http://schemas.microsoft.com/office/drawing/2014/main" id="{AD2E263D-1D1F-24D7-A4C6-369F8A2761B8}"/>
              </a:ext>
            </a:extLst>
          </p:cNvPr>
          <p:cNvPicPr>
            <a:picLocks noChangeAspect="1"/>
          </p:cNvPicPr>
          <p:nvPr/>
        </p:nvPicPr>
        <p:blipFill>
          <a:blip r:embed="rId2"/>
          <a:srcRect t="5779" b="9951"/>
          <a:stretch>
            <a:fillRect/>
          </a:stretch>
        </p:blipFill>
        <p:spPr>
          <a:xfrm>
            <a:off x="0" y="10"/>
            <a:ext cx="12191979" cy="6857990"/>
          </a:xfrm>
          <a:prstGeom prst="rect">
            <a:avLst/>
          </a:prstGeom>
        </p:spPr>
      </p:pic>
      <p:sp>
        <p:nvSpPr>
          <p:cNvPr id="11" name="Rectangle 10">
            <a:extLst>
              <a:ext uri="{FF2B5EF4-FFF2-40B4-BE49-F238E27FC236}">
                <a16:creationId xmlns:a16="http://schemas.microsoft.com/office/drawing/2014/main" id="{8FCCFBD5-BE12-BBF5-D33C-02A9AB118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3" name="Picture 2">
            <a:extLst>
              <a:ext uri="{FF2B5EF4-FFF2-40B4-BE49-F238E27FC236}">
                <a16:creationId xmlns:a16="http://schemas.microsoft.com/office/drawing/2014/main" id="{A4FBA3D5-088D-2DDA-E531-6786ADAB46DD}"/>
              </a:ext>
            </a:extLst>
          </p:cNvPr>
          <p:cNvPicPr>
            <a:picLocks noChangeAspect="1"/>
          </p:cNvPicPr>
          <p:nvPr/>
        </p:nvPicPr>
        <p:blipFill>
          <a:blip r:embed="rId3"/>
          <a:stretch>
            <a:fillRect/>
          </a:stretch>
        </p:blipFill>
        <p:spPr>
          <a:xfrm>
            <a:off x="2962114" y="1454046"/>
            <a:ext cx="6022932" cy="4531990"/>
          </a:xfrm>
          <a:prstGeom prst="rect">
            <a:avLst/>
          </a:prstGeom>
        </p:spPr>
      </p:pic>
      <p:sp>
        <p:nvSpPr>
          <p:cNvPr id="5" name="TextBox 4">
            <a:extLst>
              <a:ext uri="{FF2B5EF4-FFF2-40B4-BE49-F238E27FC236}">
                <a16:creationId xmlns:a16="http://schemas.microsoft.com/office/drawing/2014/main" id="{DFB2F101-291E-7287-7A27-1D7784E4A8B8}"/>
              </a:ext>
            </a:extLst>
          </p:cNvPr>
          <p:cNvSpPr txBox="1"/>
          <p:nvPr/>
        </p:nvSpPr>
        <p:spPr>
          <a:xfrm>
            <a:off x="3252866" y="597357"/>
            <a:ext cx="5441429" cy="369332"/>
          </a:xfrm>
          <a:prstGeom prst="rect">
            <a:avLst/>
          </a:prstGeom>
          <a:solidFill>
            <a:schemeClr val="tx1"/>
          </a:solidFill>
        </p:spPr>
        <p:txBody>
          <a:bodyPr wrap="square" rtlCol="0">
            <a:spAutoFit/>
          </a:bodyPr>
          <a:lstStyle/>
          <a:p>
            <a:pPr algn="ctr"/>
            <a:r>
              <a:rPr lang="en-ZA" dirty="0">
                <a:solidFill>
                  <a:schemeClr val="bg1"/>
                </a:solidFill>
              </a:rPr>
              <a:t>Form to create the User</a:t>
            </a:r>
          </a:p>
        </p:txBody>
      </p:sp>
    </p:spTree>
    <p:extLst>
      <p:ext uri="{BB962C8B-B14F-4D97-AF65-F5344CB8AC3E}">
        <p14:creationId xmlns:p14="http://schemas.microsoft.com/office/powerpoint/2010/main" val="4159685420"/>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C7A453-F59E-6BC5-449D-3D16B29069E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1666202-DDA6-7665-81D5-4379F029F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blue abstract watercolor pattern on a white background">
            <a:extLst>
              <a:ext uri="{FF2B5EF4-FFF2-40B4-BE49-F238E27FC236}">
                <a16:creationId xmlns:a16="http://schemas.microsoft.com/office/drawing/2014/main" id="{5BEA5786-EB41-28EF-AA07-D5B9E050E2DA}"/>
              </a:ext>
            </a:extLst>
          </p:cNvPr>
          <p:cNvPicPr>
            <a:picLocks noChangeAspect="1"/>
          </p:cNvPicPr>
          <p:nvPr/>
        </p:nvPicPr>
        <p:blipFill>
          <a:blip r:embed="rId2"/>
          <a:srcRect t="5779" b="9951"/>
          <a:stretch>
            <a:fillRect/>
          </a:stretch>
        </p:blipFill>
        <p:spPr>
          <a:xfrm>
            <a:off x="0" y="10"/>
            <a:ext cx="12191979" cy="6857990"/>
          </a:xfrm>
          <a:prstGeom prst="rect">
            <a:avLst/>
          </a:prstGeom>
        </p:spPr>
      </p:pic>
      <p:sp>
        <p:nvSpPr>
          <p:cNvPr id="11" name="Rectangle 10">
            <a:extLst>
              <a:ext uri="{FF2B5EF4-FFF2-40B4-BE49-F238E27FC236}">
                <a16:creationId xmlns:a16="http://schemas.microsoft.com/office/drawing/2014/main" id="{CC50592D-9FA6-1D27-497B-7D6CB56351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3" name="Picture 2">
            <a:extLst>
              <a:ext uri="{FF2B5EF4-FFF2-40B4-BE49-F238E27FC236}">
                <a16:creationId xmlns:a16="http://schemas.microsoft.com/office/drawing/2014/main" id="{FA9F80DF-24DC-71DA-332D-C17B1AC8201B}"/>
              </a:ext>
            </a:extLst>
          </p:cNvPr>
          <p:cNvPicPr>
            <a:picLocks noChangeAspect="1"/>
          </p:cNvPicPr>
          <p:nvPr/>
        </p:nvPicPr>
        <p:blipFill>
          <a:blip r:embed="rId3"/>
          <a:stretch>
            <a:fillRect/>
          </a:stretch>
        </p:blipFill>
        <p:spPr>
          <a:xfrm>
            <a:off x="1678898" y="1231085"/>
            <a:ext cx="9263922" cy="5041760"/>
          </a:xfrm>
          <a:prstGeom prst="rect">
            <a:avLst/>
          </a:prstGeom>
        </p:spPr>
      </p:pic>
      <p:sp>
        <p:nvSpPr>
          <p:cNvPr id="5" name="TextBox 4">
            <a:extLst>
              <a:ext uri="{FF2B5EF4-FFF2-40B4-BE49-F238E27FC236}">
                <a16:creationId xmlns:a16="http://schemas.microsoft.com/office/drawing/2014/main" id="{A62ACCDC-9931-9BB3-4571-16480D32A4C0}"/>
              </a:ext>
            </a:extLst>
          </p:cNvPr>
          <p:cNvSpPr txBox="1"/>
          <p:nvPr/>
        </p:nvSpPr>
        <p:spPr>
          <a:xfrm>
            <a:off x="3367779" y="242056"/>
            <a:ext cx="5456419" cy="369332"/>
          </a:xfrm>
          <a:prstGeom prst="rect">
            <a:avLst/>
          </a:prstGeom>
          <a:solidFill>
            <a:schemeClr val="tx1"/>
          </a:solidFill>
        </p:spPr>
        <p:txBody>
          <a:bodyPr wrap="square" rtlCol="0">
            <a:spAutoFit/>
          </a:bodyPr>
          <a:lstStyle/>
          <a:p>
            <a:pPr algn="ctr"/>
            <a:r>
              <a:rPr lang="en-ZA" dirty="0">
                <a:solidFill>
                  <a:schemeClr val="bg1"/>
                </a:solidFill>
              </a:rPr>
              <a:t>This is the home page to generate the different reports </a:t>
            </a:r>
          </a:p>
        </p:txBody>
      </p:sp>
    </p:spTree>
    <p:extLst>
      <p:ext uri="{BB962C8B-B14F-4D97-AF65-F5344CB8AC3E}">
        <p14:creationId xmlns:p14="http://schemas.microsoft.com/office/powerpoint/2010/main" val="1257751261"/>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6FAC55-9335-A76C-F11A-3F5A3B2626B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B00A107-11A9-B591-3D05-4AA35AE20D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blue abstract watercolor pattern on a white background">
            <a:extLst>
              <a:ext uri="{FF2B5EF4-FFF2-40B4-BE49-F238E27FC236}">
                <a16:creationId xmlns:a16="http://schemas.microsoft.com/office/drawing/2014/main" id="{16A21D69-3DA4-AAB1-A1B4-447C6A2D79D7}"/>
              </a:ext>
            </a:extLst>
          </p:cNvPr>
          <p:cNvPicPr>
            <a:picLocks noChangeAspect="1"/>
          </p:cNvPicPr>
          <p:nvPr/>
        </p:nvPicPr>
        <p:blipFill>
          <a:blip r:embed="rId2"/>
          <a:srcRect t="5779" b="9951"/>
          <a:stretch>
            <a:fillRect/>
          </a:stretch>
        </p:blipFill>
        <p:spPr>
          <a:xfrm>
            <a:off x="0" y="10"/>
            <a:ext cx="12191979" cy="6857990"/>
          </a:xfrm>
          <a:prstGeom prst="rect">
            <a:avLst/>
          </a:prstGeom>
        </p:spPr>
      </p:pic>
      <p:sp>
        <p:nvSpPr>
          <p:cNvPr id="11" name="Rectangle 10">
            <a:extLst>
              <a:ext uri="{FF2B5EF4-FFF2-40B4-BE49-F238E27FC236}">
                <a16:creationId xmlns:a16="http://schemas.microsoft.com/office/drawing/2014/main" id="{AC61AFD6-A506-F53A-FFF0-FC1851BC6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3" name="Picture 2">
            <a:extLst>
              <a:ext uri="{FF2B5EF4-FFF2-40B4-BE49-F238E27FC236}">
                <a16:creationId xmlns:a16="http://schemas.microsoft.com/office/drawing/2014/main" id="{F4EB0133-7287-60C1-E8C3-6498C35AAB1B}"/>
              </a:ext>
            </a:extLst>
          </p:cNvPr>
          <p:cNvPicPr>
            <a:picLocks noChangeAspect="1"/>
          </p:cNvPicPr>
          <p:nvPr/>
        </p:nvPicPr>
        <p:blipFill>
          <a:blip r:embed="rId3"/>
          <a:stretch>
            <a:fillRect/>
          </a:stretch>
        </p:blipFill>
        <p:spPr>
          <a:xfrm>
            <a:off x="146072" y="111766"/>
            <a:ext cx="4665771" cy="4488590"/>
          </a:xfrm>
          <a:prstGeom prst="rect">
            <a:avLst/>
          </a:prstGeom>
        </p:spPr>
      </p:pic>
      <p:pic>
        <p:nvPicPr>
          <p:cNvPr id="6" name="Picture 5">
            <a:extLst>
              <a:ext uri="{FF2B5EF4-FFF2-40B4-BE49-F238E27FC236}">
                <a16:creationId xmlns:a16="http://schemas.microsoft.com/office/drawing/2014/main" id="{6D337B49-3376-A7E3-FB6C-F8334BE49ECF}"/>
              </a:ext>
            </a:extLst>
          </p:cNvPr>
          <p:cNvPicPr>
            <a:picLocks noChangeAspect="1"/>
          </p:cNvPicPr>
          <p:nvPr/>
        </p:nvPicPr>
        <p:blipFill>
          <a:blip r:embed="rId4"/>
          <a:stretch>
            <a:fillRect/>
          </a:stretch>
        </p:blipFill>
        <p:spPr>
          <a:xfrm>
            <a:off x="6647113" y="111766"/>
            <a:ext cx="5020234" cy="4488590"/>
          </a:xfrm>
          <a:prstGeom prst="rect">
            <a:avLst/>
          </a:prstGeom>
        </p:spPr>
      </p:pic>
      <p:sp>
        <p:nvSpPr>
          <p:cNvPr id="7" name="TextBox 6">
            <a:extLst>
              <a:ext uri="{FF2B5EF4-FFF2-40B4-BE49-F238E27FC236}">
                <a16:creationId xmlns:a16="http://schemas.microsoft.com/office/drawing/2014/main" id="{E4B6C7BB-2F62-D9B6-D791-4467FE940511}"/>
              </a:ext>
            </a:extLst>
          </p:cNvPr>
          <p:cNvSpPr txBox="1"/>
          <p:nvPr/>
        </p:nvSpPr>
        <p:spPr>
          <a:xfrm>
            <a:off x="502920" y="4922520"/>
            <a:ext cx="11125200" cy="923330"/>
          </a:xfrm>
          <a:prstGeom prst="rect">
            <a:avLst/>
          </a:prstGeom>
          <a:solidFill>
            <a:schemeClr val="tx1"/>
          </a:solidFill>
        </p:spPr>
        <p:txBody>
          <a:bodyPr wrap="square" rtlCol="0">
            <a:spAutoFit/>
          </a:bodyPr>
          <a:lstStyle/>
          <a:p>
            <a:pPr algn="ctr"/>
            <a:r>
              <a:rPr lang="en-ZA" dirty="0">
                <a:solidFill>
                  <a:schemeClr val="bg1"/>
                </a:solidFill>
              </a:rPr>
              <a:t>This is the Invoice that is generated for the HR. It is a txt file that is generated and can be downloaded</a:t>
            </a:r>
          </a:p>
          <a:p>
            <a:pPr algn="ctr"/>
            <a:endParaRPr lang="en-ZA" dirty="0">
              <a:solidFill>
                <a:schemeClr val="bg1"/>
              </a:solidFill>
            </a:endParaRPr>
          </a:p>
          <a:p>
            <a:pPr algn="ctr"/>
            <a:r>
              <a:rPr lang="en-ZA" dirty="0">
                <a:solidFill>
                  <a:schemeClr val="bg1"/>
                </a:solidFill>
              </a:rPr>
              <a:t>I used string builder for the code to generate the invoice. </a:t>
            </a:r>
          </a:p>
        </p:txBody>
      </p:sp>
    </p:spTree>
    <p:extLst>
      <p:ext uri="{BB962C8B-B14F-4D97-AF65-F5344CB8AC3E}">
        <p14:creationId xmlns:p14="http://schemas.microsoft.com/office/powerpoint/2010/main" val="274913808"/>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246E20-CA64-34CF-B954-AD55F0AB92F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F366CEC-A5E4-6584-6583-82E0F23611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 blue abstract watercolor pattern on a white background">
            <a:extLst>
              <a:ext uri="{FF2B5EF4-FFF2-40B4-BE49-F238E27FC236}">
                <a16:creationId xmlns:a16="http://schemas.microsoft.com/office/drawing/2014/main" id="{DEB1966D-0B98-15B1-97BC-CCB6EBC09741}"/>
              </a:ext>
            </a:extLst>
          </p:cNvPr>
          <p:cNvPicPr>
            <a:picLocks noChangeAspect="1"/>
          </p:cNvPicPr>
          <p:nvPr/>
        </p:nvPicPr>
        <p:blipFill>
          <a:blip r:embed="rId2"/>
          <a:srcRect t="5779" b="9951"/>
          <a:stretch>
            <a:fillRect/>
          </a:stretch>
        </p:blipFill>
        <p:spPr>
          <a:xfrm>
            <a:off x="0" y="10"/>
            <a:ext cx="12191979" cy="6857990"/>
          </a:xfrm>
          <a:prstGeom prst="rect">
            <a:avLst/>
          </a:prstGeom>
        </p:spPr>
      </p:pic>
      <p:sp>
        <p:nvSpPr>
          <p:cNvPr id="11" name="Rectangle 10">
            <a:extLst>
              <a:ext uri="{FF2B5EF4-FFF2-40B4-BE49-F238E27FC236}">
                <a16:creationId xmlns:a16="http://schemas.microsoft.com/office/drawing/2014/main" id="{325FF615-5CB8-79B0-B9A9-A40BA3C9C0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3" name="Picture 2">
            <a:extLst>
              <a:ext uri="{FF2B5EF4-FFF2-40B4-BE49-F238E27FC236}">
                <a16:creationId xmlns:a16="http://schemas.microsoft.com/office/drawing/2014/main" id="{4D54A83D-E64F-E858-3E2D-4F177A7853C3}"/>
              </a:ext>
            </a:extLst>
          </p:cNvPr>
          <p:cNvPicPr>
            <a:picLocks noChangeAspect="1"/>
          </p:cNvPicPr>
          <p:nvPr/>
        </p:nvPicPr>
        <p:blipFill>
          <a:blip r:embed="rId3"/>
          <a:stretch>
            <a:fillRect/>
          </a:stretch>
        </p:blipFill>
        <p:spPr>
          <a:xfrm>
            <a:off x="440819" y="252065"/>
            <a:ext cx="4481702" cy="4542500"/>
          </a:xfrm>
          <a:prstGeom prst="rect">
            <a:avLst/>
          </a:prstGeom>
        </p:spPr>
      </p:pic>
      <p:pic>
        <p:nvPicPr>
          <p:cNvPr id="6" name="Picture 5">
            <a:extLst>
              <a:ext uri="{FF2B5EF4-FFF2-40B4-BE49-F238E27FC236}">
                <a16:creationId xmlns:a16="http://schemas.microsoft.com/office/drawing/2014/main" id="{3B5D47EF-6CF2-99C3-ADB2-6DDB21DB07F6}"/>
              </a:ext>
            </a:extLst>
          </p:cNvPr>
          <p:cNvPicPr>
            <a:picLocks noChangeAspect="1"/>
          </p:cNvPicPr>
          <p:nvPr/>
        </p:nvPicPr>
        <p:blipFill>
          <a:blip r:embed="rId4"/>
          <a:stretch>
            <a:fillRect/>
          </a:stretch>
        </p:blipFill>
        <p:spPr>
          <a:xfrm>
            <a:off x="6454595" y="364002"/>
            <a:ext cx="5030653" cy="4390878"/>
          </a:xfrm>
          <a:prstGeom prst="rect">
            <a:avLst/>
          </a:prstGeom>
        </p:spPr>
      </p:pic>
      <p:sp>
        <p:nvSpPr>
          <p:cNvPr id="7" name="TextBox 6">
            <a:extLst>
              <a:ext uri="{FF2B5EF4-FFF2-40B4-BE49-F238E27FC236}">
                <a16:creationId xmlns:a16="http://schemas.microsoft.com/office/drawing/2014/main" id="{F1A31F53-E75A-EA91-4984-9880C49400C3}"/>
              </a:ext>
            </a:extLst>
          </p:cNvPr>
          <p:cNvSpPr txBox="1"/>
          <p:nvPr/>
        </p:nvSpPr>
        <p:spPr>
          <a:xfrm>
            <a:off x="1219200" y="5029200"/>
            <a:ext cx="9799320" cy="1477328"/>
          </a:xfrm>
          <a:prstGeom prst="rect">
            <a:avLst/>
          </a:prstGeom>
          <a:solidFill>
            <a:schemeClr val="tx1"/>
          </a:solidFill>
        </p:spPr>
        <p:txBody>
          <a:bodyPr wrap="square" rtlCol="0">
            <a:spAutoFit/>
          </a:bodyPr>
          <a:lstStyle/>
          <a:p>
            <a:pPr algn="ctr"/>
            <a:r>
              <a:rPr lang="en-ZA" dirty="0">
                <a:solidFill>
                  <a:schemeClr val="bg1"/>
                </a:solidFill>
              </a:rPr>
              <a:t>This is the generated Monthly report </a:t>
            </a:r>
          </a:p>
          <a:p>
            <a:pPr algn="ctr"/>
            <a:endParaRPr lang="en-ZA" dirty="0">
              <a:solidFill>
                <a:schemeClr val="bg1"/>
              </a:solidFill>
            </a:endParaRPr>
          </a:p>
          <a:p>
            <a:pPr algn="ctr"/>
            <a:r>
              <a:rPr lang="en-ZA" dirty="0">
                <a:solidFill>
                  <a:schemeClr val="bg1"/>
                </a:solidFill>
              </a:rPr>
              <a:t>I used string builder to form the report. </a:t>
            </a:r>
          </a:p>
          <a:p>
            <a:pPr algn="ctr"/>
            <a:r>
              <a:rPr lang="en-ZA" dirty="0">
                <a:solidFill>
                  <a:schemeClr val="bg1"/>
                </a:solidFill>
              </a:rPr>
              <a:t>It gathers all the information of the different claims for the month and gives a summary for the month for each lecturer. </a:t>
            </a:r>
          </a:p>
        </p:txBody>
      </p:sp>
    </p:spTree>
    <p:extLst>
      <p:ext uri="{BB962C8B-B14F-4D97-AF65-F5344CB8AC3E}">
        <p14:creationId xmlns:p14="http://schemas.microsoft.com/office/powerpoint/2010/main" val="3991274849"/>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217</TotalTime>
  <Words>380</Words>
  <Application>Microsoft Office PowerPoint</Application>
  <PresentationFormat>Widescreen</PresentationFormat>
  <Paragraphs>23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Calisto MT</vt:lpstr>
      <vt:lpstr>Univers Condensed</vt:lpstr>
      <vt:lpstr>ChronicleVTI</vt:lpstr>
      <vt:lpstr>PROG6212 POE Presentation ST10340607 Justin Anderssen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Justin James Anderssen</dc:creator>
  <cp:lastModifiedBy>Justin James Anderssen</cp:lastModifiedBy>
  <cp:revision>17</cp:revision>
  <dcterms:created xsi:type="dcterms:W3CDTF">2025-11-11T12:01:28Z</dcterms:created>
  <dcterms:modified xsi:type="dcterms:W3CDTF">2025-11-21T12:30:33Z</dcterms:modified>
</cp:coreProperties>
</file>